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etrona" charset="1" panose="00000000000000000000"/>
      <p:regular r:id="rId13"/>
    </p:embeddedFont>
    <p:embeddedFont>
      <p:font typeface="Amaranth Bold" charset="1" panose="02000500000000020004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Times New Roman" charset="1" panose="02020603050405020304"/>
      <p:regular r:id="rId17"/>
    </p:embeddedFont>
    <p:embeddedFont>
      <p:font typeface="Times New Roman Bold" charset="1" panose="02020803070505020304"/>
      <p:regular r:id="rId18"/>
    </p:embeddedFont>
    <p:embeddedFont>
      <p:font typeface="Signika Bold" charset="1" panose="02010003020600000004"/>
      <p:regular r:id="rId19"/>
    </p:embeddedFont>
    <p:embeddedFont>
      <p:font typeface="Signika" charset="1" panose="020100030206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https://github.com/serhiy-dranko/olist-e-commerce-datase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ithub.com/serhiy-dranko/olist-e-commerce-dataset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9431" y="7871947"/>
            <a:ext cx="251584" cy="25158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9431" y="8861796"/>
            <a:ext cx="251584" cy="25158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418678" y="0"/>
            <a:ext cx="2752255" cy="1455738"/>
          </a:xfrm>
          <a:custGeom>
            <a:avLst/>
            <a:gdLst/>
            <a:ahLst/>
            <a:cxnLst/>
            <a:rect r="r" b="b" t="t" l="l"/>
            <a:pathLst>
              <a:path h="1455738" w="2752255">
                <a:moveTo>
                  <a:pt x="0" y="0"/>
                </a:moveTo>
                <a:lnTo>
                  <a:pt x="2752255" y="0"/>
                </a:lnTo>
                <a:lnTo>
                  <a:pt x="2752255" y="1455738"/>
                </a:lnTo>
                <a:lnTo>
                  <a:pt x="0" y="1455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71707" y="8066382"/>
            <a:ext cx="4799226" cy="178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</a:p>
          <a:p>
            <a:pPr algn="ctr">
              <a:lnSpc>
                <a:spcPts val="2812"/>
              </a:lnSpc>
            </a:pPr>
            <a:r>
              <a:rPr lang="en-US" sz="2008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Reporter</a:t>
            </a:r>
            <a:r>
              <a:rPr lang="en-US" sz="2008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: Serhiy Dranko</a:t>
            </a:r>
          </a:p>
          <a:p>
            <a:pPr algn="ctr">
              <a:lnSpc>
                <a:spcPts val="2812"/>
              </a:lnSpc>
            </a:pPr>
          </a:p>
          <a:p>
            <a:pPr algn="ctr">
              <a:lnSpc>
                <a:spcPts val="2812"/>
              </a:lnSpc>
            </a:pPr>
            <a:r>
              <a:rPr lang="en-US" sz="2008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Date: 14.08.2026</a:t>
            </a:r>
          </a:p>
          <a:p>
            <a:pPr algn="ctr">
              <a:lnSpc>
                <a:spcPts val="292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5020" y="2451177"/>
            <a:ext cx="9705583" cy="21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Olist E-Commerce </a:t>
            </a:r>
          </a:p>
          <a:p>
            <a:pPr algn="l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Sales &amp; Delivery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020" y="4734958"/>
            <a:ext cx="10705147" cy="78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222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From raw e-commerce data to a decition-ready Power BI dashboard - total revenue, delivery perfomance and geografy of sales, 2017-2018.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9013" y="7807937"/>
            <a:ext cx="1631900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9013" y="8770418"/>
            <a:ext cx="1492448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9013" y="8256882"/>
            <a:ext cx="9357624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Kaggle Brazilian E-Commerce Public Dataset by Olist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9013" y="9220200"/>
            <a:ext cx="6927800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u="sng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github.com/serhiy-dranko/olist-e-commerce-dataset"/>
              </a:rPr>
              <a:t>https://github.com/serhiy-dranko/olist-e-commerce-dataset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</a:t>
            </a: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What the dataset covers, and what we set out to build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58518"/>
            <a:ext cx="9752274" cy="115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Olist 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is a Brazilian marketplace connecting small merchants to major retail channels. Its public dataset traces </a:t>
            </a: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real, anonymized orders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from purchase to delivery to customer review.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5003" y="5030896"/>
            <a:ext cx="9228359" cy="158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 b="true">
                <a:solidFill>
                  <a:srgbClr val="737373"/>
                </a:solidFill>
                <a:latin typeface="Signika Bold"/>
                <a:ea typeface="Signika Bold"/>
                <a:cs typeface="Signika Bold"/>
                <a:sym typeface="Signika Bold"/>
              </a:rPr>
              <a:t>The goal</a:t>
            </a:r>
            <a:r>
              <a:rPr lang="en-US" sz="2269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: turn 9 raw relational tables into a single analytical model that answers concrete revenue, logistics, and geographic questions. 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Then surface them in an interactive Power BI dashboard.</a:t>
            </a:r>
          </a:p>
          <a:p>
            <a:pPr algn="l">
              <a:lnSpc>
                <a:spcPts val="31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860978" y="2491196"/>
            <a:ext cx="2108895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sources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7251" y="2570826"/>
            <a:ext cx="251584" cy="25158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860978" y="3049043"/>
            <a:ext cx="4314806" cy="37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Kaggle Dataset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60978" y="5125921"/>
            <a:ext cx="3540919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Pipeline &amp; SQL Repository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7251" y="5205551"/>
            <a:ext cx="251584" cy="2515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60978" y="5802170"/>
            <a:ext cx="5000967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github.com/serhiy-dranko/olist-e-commerce-dataset"/>
              </a:rPr>
              <a:t>https://github.com/serhiy-dranko/olist-e-commerce-dataset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65889" y="6763559"/>
            <a:ext cx="1765548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Delivery tool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7251" y="6847786"/>
            <a:ext cx="251584" cy="25158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65889" y="7317278"/>
            <a:ext cx="5393411" cy="32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Power BI Desktop: data model + interactive report.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6673144"/>
            <a:ext cx="2213276" cy="1470638"/>
            <a:chOff x="0" y="0"/>
            <a:chExt cx="582920" cy="387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2920" cy="387329"/>
            </a:xfrm>
            <a:custGeom>
              <a:avLst/>
              <a:gdLst/>
              <a:ahLst/>
              <a:cxnLst/>
              <a:rect r="r" b="b" t="t" l="l"/>
              <a:pathLst>
                <a:path h="387329" w="582920">
                  <a:moveTo>
                    <a:pt x="59465" y="0"/>
                  </a:moveTo>
                  <a:lnTo>
                    <a:pt x="523455" y="0"/>
                  </a:lnTo>
                  <a:cubicBezTo>
                    <a:pt x="539226" y="0"/>
                    <a:pt x="554352" y="6265"/>
                    <a:pt x="565503" y="17417"/>
                  </a:cubicBezTo>
                  <a:cubicBezTo>
                    <a:pt x="576655" y="28569"/>
                    <a:pt x="582920" y="43694"/>
                    <a:pt x="582920" y="59465"/>
                  </a:cubicBezTo>
                  <a:lnTo>
                    <a:pt x="582920" y="327864"/>
                  </a:lnTo>
                  <a:cubicBezTo>
                    <a:pt x="582920" y="360705"/>
                    <a:pt x="556297" y="387329"/>
                    <a:pt x="523455" y="387329"/>
                  </a:cubicBezTo>
                  <a:lnTo>
                    <a:pt x="59465" y="387329"/>
                  </a:lnTo>
                  <a:cubicBezTo>
                    <a:pt x="26623" y="387329"/>
                    <a:pt x="0" y="360705"/>
                    <a:pt x="0" y="327864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DEE3E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82920" cy="434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8889" y="6837598"/>
            <a:ext cx="145289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100 K+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490116" y="6673144"/>
            <a:ext cx="2213276" cy="1470638"/>
            <a:chOff x="0" y="0"/>
            <a:chExt cx="582920" cy="3873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2920" cy="387329"/>
            </a:xfrm>
            <a:custGeom>
              <a:avLst/>
              <a:gdLst/>
              <a:ahLst/>
              <a:cxnLst/>
              <a:rect r="r" b="b" t="t" l="l"/>
              <a:pathLst>
                <a:path h="387329" w="582920">
                  <a:moveTo>
                    <a:pt x="59465" y="0"/>
                  </a:moveTo>
                  <a:lnTo>
                    <a:pt x="523455" y="0"/>
                  </a:lnTo>
                  <a:cubicBezTo>
                    <a:pt x="539226" y="0"/>
                    <a:pt x="554352" y="6265"/>
                    <a:pt x="565503" y="17417"/>
                  </a:cubicBezTo>
                  <a:cubicBezTo>
                    <a:pt x="576655" y="28569"/>
                    <a:pt x="582920" y="43694"/>
                    <a:pt x="582920" y="59465"/>
                  </a:cubicBezTo>
                  <a:lnTo>
                    <a:pt x="582920" y="327864"/>
                  </a:lnTo>
                  <a:cubicBezTo>
                    <a:pt x="582920" y="360705"/>
                    <a:pt x="556297" y="387329"/>
                    <a:pt x="523455" y="387329"/>
                  </a:cubicBezTo>
                  <a:lnTo>
                    <a:pt x="59465" y="387329"/>
                  </a:lnTo>
                  <a:cubicBezTo>
                    <a:pt x="26623" y="387329"/>
                    <a:pt x="0" y="360705"/>
                    <a:pt x="0" y="327864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DEE3E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82920" cy="434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870305" y="6837598"/>
            <a:ext cx="145289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27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042881" y="6673144"/>
            <a:ext cx="2213276" cy="1470638"/>
            <a:chOff x="0" y="0"/>
            <a:chExt cx="582920" cy="3873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2920" cy="387329"/>
            </a:xfrm>
            <a:custGeom>
              <a:avLst/>
              <a:gdLst/>
              <a:ahLst/>
              <a:cxnLst/>
              <a:rect r="r" b="b" t="t" l="l"/>
              <a:pathLst>
                <a:path h="387329" w="582920">
                  <a:moveTo>
                    <a:pt x="59465" y="0"/>
                  </a:moveTo>
                  <a:lnTo>
                    <a:pt x="523455" y="0"/>
                  </a:lnTo>
                  <a:cubicBezTo>
                    <a:pt x="539226" y="0"/>
                    <a:pt x="554352" y="6265"/>
                    <a:pt x="565503" y="17417"/>
                  </a:cubicBezTo>
                  <a:cubicBezTo>
                    <a:pt x="576655" y="28569"/>
                    <a:pt x="582920" y="43694"/>
                    <a:pt x="582920" y="59465"/>
                  </a:cubicBezTo>
                  <a:lnTo>
                    <a:pt x="582920" y="327864"/>
                  </a:lnTo>
                  <a:cubicBezTo>
                    <a:pt x="582920" y="360705"/>
                    <a:pt x="556297" y="387329"/>
                    <a:pt x="523455" y="387329"/>
                  </a:cubicBezTo>
                  <a:lnTo>
                    <a:pt x="59465" y="387329"/>
                  </a:lnTo>
                  <a:cubicBezTo>
                    <a:pt x="26623" y="387329"/>
                    <a:pt x="0" y="360705"/>
                    <a:pt x="0" y="327864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DEE3E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82920" cy="434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332041" y="6837598"/>
            <a:ext cx="170768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4.05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7059" y="7611616"/>
            <a:ext cx="1856558" cy="2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6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Orders, 2017-2018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68474" y="7611616"/>
            <a:ext cx="1856558" cy="2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6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Product categories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12991" y="7611616"/>
            <a:ext cx="1856558" cy="2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6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Avg review score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FRAMING TH</a:t>
            </a: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Three business questions the dashboard answers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5339" y="2516024"/>
            <a:ext cx="9752274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Revenue trend by category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Is revenue growing or shrinking, and which categories drive it?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55339" y="4021942"/>
            <a:ext cx="9752274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Delivery time vs. review score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Do late/slow deliveries correlate with lower review scores?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55339" y="5527861"/>
            <a:ext cx="9752274" cy="115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State-level performance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Where is the business strong or weak geographically?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65661" y="2543479"/>
            <a:ext cx="1047797" cy="1063721"/>
            <a:chOff x="0" y="0"/>
            <a:chExt cx="275963" cy="28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5661" y="4054875"/>
            <a:ext cx="1047797" cy="1063721"/>
            <a:chOff x="0" y="0"/>
            <a:chExt cx="275963" cy="28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5661" y="5565961"/>
            <a:ext cx="1047797" cy="1063721"/>
            <a:chOff x="0" y="0"/>
            <a:chExt cx="275963" cy="2801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65661" y="2584167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661" y="4095563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5661" y="5606649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83096"/>
            <a:ext cx="11822124" cy="7112978"/>
          </a:xfrm>
          <a:custGeom>
            <a:avLst/>
            <a:gdLst/>
            <a:ahLst/>
            <a:cxnLst/>
            <a:rect r="r" b="b" t="t" l="l"/>
            <a:pathLst>
              <a:path h="7112978" w="11822124">
                <a:moveTo>
                  <a:pt x="0" y="0"/>
                </a:moveTo>
                <a:lnTo>
                  <a:pt x="11822124" y="0"/>
                </a:lnTo>
                <a:lnTo>
                  <a:pt x="11822124" y="7112978"/>
                </a:lnTo>
                <a:lnTo>
                  <a:pt x="0" y="711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FROM QUESTION TO QU</a:t>
            </a: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Data schema: tables &amp; columns behind each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87808" y="1672046"/>
            <a:ext cx="4608743" cy="84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543" indent="-238771" lvl="1">
              <a:lnSpc>
                <a:spcPts val="3096"/>
              </a:lnSpc>
              <a:buFont typeface="Arial"/>
              <a:buChar char="•"/>
            </a:pPr>
            <a:r>
              <a:rPr lang="en-US" b="true" sz="2211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Revenue by category</a:t>
            </a:r>
          </a:p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TABLES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orders · order_items · products ·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product_category_name_translation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COLUMNS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order_purchase_timestamp, price,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product_id → product_category_name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→ product_category_name_english</a:t>
            </a:r>
          </a:p>
          <a:p>
            <a:pPr algn="l" marL="477543" indent="-238771" lvl="1">
              <a:lnSpc>
                <a:spcPts val="3096"/>
              </a:lnSpc>
              <a:buFont typeface="Arial"/>
              <a:buChar char="•"/>
            </a:pPr>
            <a:r>
              <a:rPr lang="en-US" b="true" sz="2211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Delivery time vs. review</a:t>
            </a:r>
          </a:p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TABLES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orders · order_reviews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COLUMNS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order_purchase_timestamp,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order_delivered_customer_date,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order_estimated_delivery_date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→ review_score</a:t>
            </a:r>
          </a:p>
          <a:p>
            <a:pPr algn="l" marL="477543" indent="-238771" lvl="1">
              <a:lnSpc>
                <a:spcPts val="3096"/>
              </a:lnSpc>
              <a:buFont typeface="Arial"/>
              <a:buChar char="•"/>
            </a:pPr>
            <a:r>
              <a:rPr lang="en-US" b="true" sz="2211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State-level performance</a:t>
            </a:r>
          </a:p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TABLES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orders · customers · order_reviews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COLUMNS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cust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omer_id → customer_state,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order_id → review_score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309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PIPELINE IS BUILT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From 9 CSV files to a queryable semantic model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6970" y="2543479"/>
            <a:ext cx="3595676" cy="1238888"/>
            <a:chOff x="0" y="0"/>
            <a:chExt cx="947009" cy="3262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1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Extract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16356" y="2543479"/>
            <a:ext cx="3595676" cy="1238888"/>
            <a:chOff x="0" y="0"/>
            <a:chExt cx="947009" cy="3262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2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Transform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543479"/>
            <a:ext cx="3595676" cy="1238888"/>
            <a:chOff x="0" y="0"/>
            <a:chExt cx="947009" cy="3262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3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Model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92126" y="2543479"/>
            <a:ext cx="3595676" cy="1238888"/>
            <a:chOff x="0" y="0"/>
            <a:chExt cx="947009" cy="3262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4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Serve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172145"/>
            <a:ext cx="3414424" cy="3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9 raw Kaggle CSVs</a:t>
            </a:r>
            <a:r>
              <a:rPr lang="en-US" sz="21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</a:t>
            </a:r>
          </a:p>
          <a:p>
            <a:pPr algn="ctr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(orders, items, customers, products, payments, reviews, sellers, geolocation, category translation) loaded as source tables.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297607" y="4172145"/>
            <a:ext cx="3414424" cy="3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Power Query / SQL: </a:t>
            </a:r>
          </a:p>
          <a:p>
            <a:pPr algn="l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ype casting, </a:t>
            </a: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de-duplication, key cleanup and calculated fields:  delivery_time_days, state_grouped, pCat_grouped.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25251" y="4162620"/>
            <a:ext cx="3541818" cy="26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Tables joined into a main- table: </a:t>
            </a:r>
          </a:p>
          <a:p>
            <a:pPr algn="l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wide detail table (main_sales_orders_detail) plus lookup dimensions (states, category translation).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73377" y="4172145"/>
            <a:ext cx="3414424" cy="230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DAX measures </a:t>
            </a:r>
          </a:p>
          <a:p>
            <a:pPr algn="ctr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Total Revenue, Order Count, Avg Review Score.</a:t>
            </a: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Builded in the interactive Power BI report and slicers.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49009"/>
            <a:ext cx="12163509" cy="6832471"/>
          </a:xfrm>
          <a:custGeom>
            <a:avLst/>
            <a:gdLst/>
            <a:ahLst/>
            <a:cxnLst/>
            <a:rect r="r" b="b" t="t" l="l"/>
            <a:pathLst>
              <a:path h="6832471" w="12163509">
                <a:moveTo>
                  <a:pt x="0" y="0"/>
                </a:moveTo>
                <a:lnTo>
                  <a:pt x="12163509" y="0"/>
                </a:lnTo>
                <a:lnTo>
                  <a:pt x="12163509" y="6832472"/>
                </a:lnTo>
                <a:lnTo>
                  <a:pt x="0" y="6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 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What the data shows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64815" y="1901384"/>
            <a:ext cx="4918010" cy="40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588" indent="-254794" lvl="1">
              <a:lnSpc>
                <a:spcPts val="3304"/>
              </a:lnSpc>
              <a:buFont typeface="Arial"/>
              <a:buChar char="•"/>
            </a:pPr>
            <a:r>
              <a:rPr lang="en-US" b="true" sz="2360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Revenue grew, then plateaued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64815" y="4517903"/>
            <a:ext cx="4918010" cy="40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588" indent="-254794" lvl="1">
              <a:lnSpc>
                <a:spcPts val="3304"/>
              </a:lnSpc>
              <a:buFont typeface="Arial"/>
              <a:buChar char="•"/>
            </a:pPr>
            <a:r>
              <a:rPr lang="en-US" b="true" sz="2360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Slower delivery → lower reviews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209" y="6631322"/>
            <a:ext cx="5223185" cy="116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512" indent="-231756" lvl="1">
              <a:lnSpc>
                <a:spcPts val="3005"/>
              </a:lnSpc>
              <a:buFont typeface="Arial"/>
              <a:buChar char="•"/>
            </a:pPr>
            <a:r>
              <a:rPr lang="en-US" b="true" sz="2146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Sao Paulo dominates, but the tail matters</a:t>
            </a:r>
            <a:r>
              <a:rPr lang="en-US" b="true" sz="2146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</a:p>
          <a:p>
            <a:pPr algn="l">
              <a:lnSpc>
                <a:spcPts val="33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608659" y="2545895"/>
            <a:ext cx="3716985" cy="18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Monthly revenue climbed through 2017, spiked to R$178K on the Nov 24, 2017 Black Friday, then stabilized around R$1M/month through mid-2018.</a:t>
            </a:r>
          </a:p>
          <a:p>
            <a:pPr algn="just">
              <a:lnSpc>
                <a:spcPts val="267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665328" y="5030912"/>
            <a:ext cx="3716985" cy="157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Avg. review score falls from 4.33 (0–7 day delivery) to 1.80 for undelivered orders. It’s a clear, near-linear relationship.</a:t>
            </a:r>
          </a:p>
          <a:p>
            <a:pPr algn="just">
              <a:lnSpc>
                <a:spcPts val="267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08659" y="7532684"/>
            <a:ext cx="3716985" cy="157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Sao Paulo alone drives 37% of revenue. The next 9 an Othe combined states combined still contribute the majority of the remainder.</a:t>
            </a:r>
          </a:p>
          <a:p>
            <a:pPr algn="just">
              <a:lnSpc>
                <a:spcPts val="267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898201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6314" y="3430162"/>
            <a:ext cx="15916039" cy="21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T</a:t>
            </a: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hank you for your attention! </a:t>
            </a:r>
          </a:p>
          <a:p>
            <a:pPr algn="ctr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I will be happy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DAHSPrFBX2Q</dc:identifier>
  <dcterms:modified xsi:type="dcterms:W3CDTF">2011-08-01T06:04:30Z</dcterms:modified>
  <cp:revision>1</cp:revision>
  <dc:title>Add a little bit of body text</dc:title>
</cp:coreProperties>
</file>